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9" r:id="rId4"/>
    <p:sldId id="258"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08"/>
    <p:restoredTop sz="94699"/>
  </p:normalViewPr>
  <p:slideViewPr>
    <p:cSldViewPr snapToGrid="0">
      <p:cViewPr varScale="1">
        <p:scale>
          <a:sx n="105" d="100"/>
          <a:sy n="105" d="100"/>
        </p:scale>
        <p:origin x="71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E120544-4DDD-D543-86B9-15F68994DCE8}" type="datetimeFigureOut">
              <a:rPr lang="en-US" smtClean="0"/>
              <a:t>12/24/2025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6EBDCD-D74E-1242-9473-91D309BD715B}" type="slidenum">
              <a:rPr lang="en-US" smtClean="0"/>
              <a:t>‹#›</a:t>
            </a:fld>
            <a:endParaRPr lang="en-US"/>
          </a:p>
        </p:txBody>
      </p:sp>
    </p:spTree>
    <p:extLst>
      <p:ext uri="{BB962C8B-B14F-4D97-AF65-F5344CB8AC3E}">
        <p14:creationId xmlns:p14="http://schemas.microsoft.com/office/powerpoint/2010/main" val="42503216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6EBDCD-D74E-1242-9473-91D309BD715B}" type="slidenum">
              <a:rPr lang="en-US" smtClean="0"/>
              <a:t>1</a:t>
            </a:fld>
            <a:endParaRPr lang="en-US"/>
          </a:p>
        </p:txBody>
      </p:sp>
    </p:spTree>
    <p:extLst>
      <p:ext uri="{BB962C8B-B14F-4D97-AF65-F5344CB8AC3E}">
        <p14:creationId xmlns:p14="http://schemas.microsoft.com/office/powerpoint/2010/main" val="34136268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EB9D71-3E0E-275F-F489-9CA89B900618}"/>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5C6B768F-FFF6-8B58-6F06-1E820061F72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EA73C407-903F-2055-9F67-67877DA08F56}"/>
              </a:ext>
            </a:extLst>
          </p:cNvPr>
          <p:cNvSpPr>
            <a:spLocks noGrp="1"/>
          </p:cNvSpPr>
          <p:nvPr>
            <p:ph type="dt" sz="half" idx="10"/>
          </p:nvPr>
        </p:nvSpPr>
        <p:spPr/>
        <p:txBody>
          <a:bodyPr/>
          <a:lstStyle/>
          <a:p>
            <a:fld id="{6B8DE513-C7B6-CA40-A205-75DAFAA7B8A7}" type="datetimeFigureOut">
              <a:rPr lang="en-US" smtClean="0"/>
              <a:t>12/24/2025</a:t>
            </a:fld>
            <a:endParaRPr lang="en-US"/>
          </a:p>
        </p:txBody>
      </p:sp>
      <p:sp>
        <p:nvSpPr>
          <p:cNvPr id="5" name="Footer Placeholder 4">
            <a:extLst>
              <a:ext uri="{FF2B5EF4-FFF2-40B4-BE49-F238E27FC236}">
                <a16:creationId xmlns:a16="http://schemas.microsoft.com/office/drawing/2014/main" id="{B8FCBEAD-4007-8F4B-B8F6-17844FEA20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E8EB44-9266-D473-D093-7CB918539ADC}"/>
              </a:ext>
            </a:extLst>
          </p:cNvPr>
          <p:cNvSpPr>
            <a:spLocks noGrp="1"/>
          </p:cNvSpPr>
          <p:nvPr>
            <p:ph type="sldNum" sz="quarter" idx="12"/>
          </p:nvPr>
        </p:nvSpPr>
        <p:spPr/>
        <p:txBody>
          <a:bodyPr/>
          <a:lstStyle/>
          <a:p>
            <a:fld id="{F36E8DE9-1F39-064F-BFD5-0AF42DE1DC28}" type="slidenum">
              <a:rPr lang="en-US" smtClean="0"/>
              <a:t>‹#›</a:t>
            </a:fld>
            <a:endParaRPr lang="en-US"/>
          </a:p>
        </p:txBody>
      </p:sp>
    </p:spTree>
    <p:extLst>
      <p:ext uri="{BB962C8B-B14F-4D97-AF65-F5344CB8AC3E}">
        <p14:creationId xmlns:p14="http://schemas.microsoft.com/office/powerpoint/2010/main" val="20814811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A3A54-68ED-2912-CFCF-B9E364A01176}"/>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BB8E27A-4EE4-1115-80AE-8CC032E0611B}"/>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AEDFC37-232A-950E-AA89-E024C7F520E9}"/>
              </a:ext>
            </a:extLst>
          </p:cNvPr>
          <p:cNvSpPr>
            <a:spLocks noGrp="1"/>
          </p:cNvSpPr>
          <p:nvPr>
            <p:ph type="dt" sz="half" idx="10"/>
          </p:nvPr>
        </p:nvSpPr>
        <p:spPr/>
        <p:txBody>
          <a:bodyPr/>
          <a:lstStyle/>
          <a:p>
            <a:fld id="{6B8DE513-C7B6-CA40-A205-75DAFAA7B8A7}" type="datetimeFigureOut">
              <a:rPr lang="en-US" smtClean="0"/>
              <a:t>12/24/2025</a:t>
            </a:fld>
            <a:endParaRPr lang="en-US"/>
          </a:p>
        </p:txBody>
      </p:sp>
      <p:sp>
        <p:nvSpPr>
          <p:cNvPr id="5" name="Footer Placeholder 4">
            <a:extLst>
              <a:ext uri="{FF2B5EF4-FFF2-40B4-BE49-F238E27FC236}">
                <a16:creationId xmlns:a16="http://schemas.microsoft.com/office/drawing/2014/main" id="{059484FA-0CAC-51A8-1778-8263DB4782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A4E3B3-3DAB-4DEC-BF84-482540D1160A}"/>
              </a:ext>
            </a:extLst>
          </p:cNvPr>
          <p:cNvSpPr>
            <a:spLocks noGrp="1"/>
          </p:cNvSpPr>
          <p:nvPr>
            <p:ph type="sldNum" sz="quarter" idx="12"/>
          </p:nvPr>
        </p:nvSpPr>
        <p:spPr/>
        <p:txBody>
          <a:bodyPr/>
          <a:lstStyle/>
          <a:p>
            <a:fld id="{F36E8DE9-1F39-064F-BFD5-0AF42DE1DC28}" type="slidenum">
              <a:rPr lang="en-US" smtClean="0"/>
              <a:t>‹#›</a:t>
            </a:fld>
            <a:endParaRPr lang="en-US"/>
          </a:p>
        </p:txBody>
      </p:sp>
    </p:spTree>
    <p:extLst>
      <p:ext uri="{BB962C8B-B14F-4D97-AF65-F5344CB8AC3E}">
        <p14:creationId xmlns:p14="http://schemas.microsoft.com/office/powerpoint/2010/main" val="32085377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85A81-34EB-587B-FF26-0F9E465E4AD0}"/>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7F879884-64F3-E092-B4CA-286F1A6B860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3F29B0C6-E657-D44D-D63D-CCBAC3DC7651}"/>
              </a:ext>
            </a:extLst>
          </p:cNvPr>
          <p:cNvSpPr>
            <a:spLocks noGrp="1"/>
          </p:cNvSpPr>
          <p:nvPr>
            <p:ph type="dt" sz="half" idx="10"/>
          </p:nvPr>
        </p:nvSpPr>
        <p:spPr/>
        <p:txBody>
          <a:bodyPr/>
          <a:lstStyle/>
          <a:p>
            <a:fld id="{6B8DE513-C7B6-CA40-A205-75DAFAA7B8A7}" type="datetimeFigureOut">
              <a:rPr lang="en-US" smtClean="0"/>
              <a:t>12/24/2025</a:t>
            </a:fld>
            <a:endParaRPr lang="en-US"/>
          </a:p>
        </p:txBody>
      </p:sp>
      <p:sp>
        <p:nvSpPr>
          <p:cNvPr id="5" name="Footer Placeholder 4">
            <a:extLst>
              <a:ext uri="{FF2B5EF4-FFF2-40B4-BE49-F238E27FC236}">
                <a16:creationId xmlns:a16="http://schemas.microsoft.com/office/drawing/2014/main" id="{338CF499-8F6D-CEF3-161F-91641C8AD4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525197-0A57-CC62-7208-F4A813216C58}"/>
              </a:ext>
            </a:extLst>
          </p:cNvPr>
          <p:cNvSpPr>
            <a:spLocks noGrp="1"/>
          </p:cNvSpPr>
          <p:nvPr>
            <p:ph type="sldNum" sz="quarter" idx="12"/>
          </p:nvPr>
        </p:nvSpPr>
        <p:spPr/>
        <p:txBody>
          <a:bodyPr/>
          <a:lstStyle/>
          <a:p>
            <a:fld id="{F36E8DE9-1F39-064F-BFD5-0AF42DE1DC28}" type="slidenum">
              <a:rPr lang="en-US" smtClean="0"/>
              <a:t>‹#›</a:t>
            </a:fld>
            <a:endParaRPr lang="en-US"/>
          </a:p>
        </p:txBody>
      </p:sp>
    </p:spTree>
    <p:extLst>
      <p:ext uri="{BB962C8B-B14F-4D97-AF65-F5344CB8AC3E}">
        <p14:creationId xmlns:p14="http://schemas.microsoft.com/office/powerpoint/2010/main" val="5135540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D7CB4A-4429-ABBE-B99F-BDF050DDD3FE}"/>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2A4D7E0-F360-BAB3-9FE2-345EC905E962}"/>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536EC58F-169C-6533-F64C-3B9FE9158120}"/>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A72A47A8-89D1-C370-B1C0-E82F2C1F0D76}"/>
              </a:ext>
            </a:extLst>
          </p:cNvPr>
          <p:cNvSpPr>
            <a:spLocks noGrp="1"/>
          </p:cNvSpPr>
          <p:nvPr>
            <p:ph type="dt" sz="half" idx="10"/>
          </p:nvPr>
        </p:nvSpPr>
        <p:spPr/>
        <p:txBody>
          <a:bodyPr/>
          <a:lstStyle/>
          <a:p>
            <a:fld id="{6B8DE513-C7B6-CA40-A205-75DAFAA7B8A7}" type="datetimeFigureOut">
              <a:rPr lang="en-US" smtClean="0"/>
              <a:t>12/24/2025</a:t>
            </a:fld>
            <a:endParaRPr lang="en-US"/>
          </a:p>
        </p:txBody>
      </p:sp>
      <p:sp>
        <p:nvSpPr>
          <p:cNvPr id="6" name="Footer Placeholder 5">
            <a:extLst>
              <a:ext uri="{FF2B5EF4-FFF2-40B4-BE49-F238E27FC236}">
                <a16:creationId xmlns:a16="http://schemas.microsoft.com/office/drawing/2014/main" id="{14E277DA-0AD1-DC9D-0F72-3611B762FEF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725024E-E1AD-C229-A0EE-0B28716EFDF3}"/>
              </a:ext>
            </a:extLst>
          </p:cNvPr>
          <p:cNvSpPr>
            <a:spLocks noGrp="1"/>
          </p:cNvSpPr>
          <p:nvPr>
            <p:ph type="sldNum" sz="quarter" idx="12"/>
          </p:nvPr>
        </p:nvSpPr>
        <p:spPr/>
        <p:txBody>
          <a:bodyPr/>
          <a:lstStyle/>
          <a:p>
            <a:fld id="{F36E8DE9-1F39-064F-BFD5-0AF42DE1DC28}" type="slidenum">
              <a:rPr lang="en-US" smtClean="0"/>
              <a:t>‹#›</a:t>
            </a:fld>
            <a:endParaRPr lang="en-US"/>
          </a:p>
        </p:txBody>
      </p:sp>
    </p:spTree>
    <p:extLst>
      <p:ext uri="{BB962C8B-B14F-4D97-AF65-F5344CB8AC3E}">
        <p14:creationId xmlns:p14="http://schemas.microsoft.com/office/powerpoint/2010/main" val="41618158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B5D03-54E5-0A22-A807-3494CBCED031}"/>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D25889D-0FA0-47BD-9E5E-AF62350E3EF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070FA99F-EA51-DF9D-55AF-CF144266A57B}"/>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48409D60-7E60-9740-F8FE-37C80D55BCD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5A592FE7-192F-69CD-F8AD-943E2D3D91E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4E752EBB-AE7B-4D8D-FE51-87A072FE3DC1}"/>
              </a:ext>
            </a:extLst>
          </p:cNvPr>
          <p:cNvSpPr>
            <a:spLocks noGrp="1"/>
          </p:cNvSpPr>
          <p:nvPr>
            <p:ph type="dt" sz="half" idx="10"/>
          </p:nvPr>
        </p:nvSpPr>
        <p:spPr/>
        <p:txBody>
          <a:bodyPr/>
          <a:lstStyle/>
          <a:p>
            <a:fld id="{6B8DE513-C7B6-CA40-A205-75DAFAA7B8A7}" type="datetimeFigureOut">
              <a:rPr lang="en-US" smtClean="0"/>
              <a:t>12/24/2025</a:t>
            </a:fld>
            <a:endParaRPr lang="en-US"/>
          </a:p>
        </p:txBody>
      </p:sp>
      <p:sp>
        <p:nvSpPr>
          <p:cNvPr id="8" name="Footer Placeholder 7">
            <a:extLst>
              <a:ext uri="{FF2B5EF4-FFF2-40B4-BE49-F238E27FC236}">
                <a16:creationId xmlns:a16="http://schemas.microsoft.com/office/drawing/2014/main" id="{8428621C-7AE1-93AD-F8EC-1A973303AF3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21B2F92-5D05-8F57-B47D-DB5F8635A6B4}"/>
              </a:ext>
            </a:extLst>
          </p:cNvPr>
          <p:cNvSpPr>
            <a:spLocks noGrp="1"/>
          </p:cNvSpPr>
          <p:nvPr>
            <p:ph type="sldNum" sz="quarter" idx="12"/>
          </p:nvPr>
        </p:nvSpPr>
        <p:spPr/>
        <p:txBody>
          <a:bodyPr/>
          <a:lstStyle/>
          <a:p>
            <a:fld id="{F36E8DE9-1F39-064F-BFD5-0AF42DE1DC28}" type="slidenum">
              <a:rPr lang="en-US" smtClean="0"/>
              <a:t>‹#›</a:t>
            </a:fld>
            <a:endParaRPr lang="en-US"/>
          </a:p>
        </p:txBody>
      </p:sp>
    </p:spTree>
    <p:extLst>
      <p:ext uri="{BB962C8B-B14F-4D97-AF65-F5344CB8AC3E}">
        <p14:creationId xmlns:p14="http://schemas.microsoft.com/office/powerpoint/2010/main" val="15071388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A532DD-7F83-E01D-E1BE-9A50C1C0BE84}"/>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CFB45664-61DC-47DD-7E74-334897B79550}"/>
              </a:ext>
            </a:extLst>
          </p:cNvPr>
          <p:cNvSpPr>
            <a:spLocks noGrp="1"/>
          </p:cNvSpPr>
          <p:nvPr>
            <p:ph type="dt" sz="half" idx="10"/>
          </p:nvPr>
        </p:nvSpPr>
        <p:spPr/>
        <p:txBody>
          <a:bodyPr/>
          <a:lstStyle/>
          <a:p>
            <a:fld id="{6B8DE513-C7B6-CA40-A205-75DAFAA7B8A7}" type="datetimeFigureOut">
              <a:rPr lang="en-US" smtClean="0"/>
              <a:t>12/24/2025</a:t>
            </a:fld>
            <a:endParaRPr lang="en-US"/>
          </a:p>
        </p:txBody>
      </p:sp>
      <p:sp>
        <p:nvSpPr>
          <p:cNvPr id="4" name="Footer Placeholder 3">
            <a:extLst>
              <a:ext uri="{FF2B5EF4-FFF2-40B4-BE49-F238E27FC236}">
                <a16:creationId xmlns:a16="http://schemas.microsoft.com/office/drawing/2014/main" id="{2D97038C-9CCB-51C9-C70E-94E7534E720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F328C00-151C-22AF-2305-82782E58FFE0}"/>
              </a:ext>
            </a:extLst>
          </p:cNvPr>
          <p:cNvSpPr>
            <a:spLocks noGrp="1"/>
          </p:cNvSpPr>
          <p:nvPr>
            <p:ph type="sldNum" sz="quarter" idx="12"/>
          </p:nvPr>
        </p:nvSpPr>
        <p:spPr/>
        <p:txBody>
          <a:bodyPr/>
          <a:lstStyle/>
          <a:p>
            <a:fld id="{F36E8DE9-1F39-064F-BFD5-0AF42DE1DC28}" type="slidenum">
              <a:rPr lang="en-US" smtClean="0"/>
              <a:t>‹#›</a:t>
            </a:fld>
            <a:endParaRPr lang="en-US"/>
          </a:p>
        </p:txBody>
      </p:sp>
    </p:spTree>
    <p:extLst>
      <p:ext uri="{BB962C8B-B14F-4D97-AF65-F5344CB8AC3E}">
        <p14:creationId xmlns:p14="http://schemas.microsoft.com/office/powerpoint/2010/main" val="41446580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430DC00-B2BB-C9D0-531B-C818ECA7544F}"/>
              </a:ext>
            </a:extLst>
          </p:cNvPr>
          <p:cNvSpPr>
            <a:spLocks noGrp="1"/>
          </p:cNvSpPr>
          <p:nvPr>
            <p:ph type="dt" sz="half" idx="10"/>
          </p:nvPr>
        </p:nvSpPr>
        <p:spPr/>
        <p:txBody>
          <a:bodyPr/>
          <a:lstStyle/>
          <a:p>
            <a:fld id="{6B8DE513-C7B6-CA40-A205-75DAFAA7B8A7}" type="datetimeFigureOut">
              <a:rPr lang="en-US" smtClean="0"/>
              <a:t>12/24/2025</a:t>
            </a:fld>
            <a:endParaRPr lang="en-US"/>
          </a:p>
        </p:txBody>
      </p:sp>
      <p:sp>
        <p:nvSpPr>
          <p:cNvPr id="3" name="Footer Placeholder 2">
            <a:extLst>
              <a:ext uri="{FF2B5EF4-FFF2-40B4-BE49-F238E27FC236}">
                <a16:creationId xmlns:a16="http://schemas.microsoft.com/office/drawing/2014/main" id="{0D26A4CD-BB99-0F51-ADBA-41836F3CB82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75F15B9-2CFF-9076-C820-179426CF2F54}"/>
              </a:ext>
            </a:extLst>
          </p:cNvPr>
          <p:cNvSpPr>
            <a:spLocks noGrp="1"/>
          </p:cNvSpPr>
          <p:nvPr>
            <p:ph type="sldNum" sz="quarter" idx="12"/>
          </p:nvPr>
        </p:nvSpPr>
        <p:spPr/>
        <p:txBody>
          <a:bodyPr/>
          <a:lstStyle/>
          <a:p>
            <a:fld id="{F36E8DE9-1F39-064F-BFD5-0AF42DE1DC28}" type="slidenum">
              <a:rPr lang="en-US" smtClean="0"/>
              <a:t>‹#›</a:t>
            </a:fld>
            <a:endParaRPr lang="en-US"/>
          </a:p>
        </p:txBody>
      </p:sp>
    </p:spTree>
    <p:extLst>
      <p:ext uri="{BB962C8B-B14F-4D97-AF65-F5344CB8AC3E}">
        <p14:creationId xmlns:p14="http://schemas.microsoft.com/office/powerpoint/2010/main" val="33367799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6959D-15D3-CE9A-D6F3-BBC633811DA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08185769-1723-11D1-DE5E-019798E4E83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70236D9B-B750-8E79-3E4B-9D39AFA660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26409DB-5387-8756-F0E5-A6A5B34D885F}"/>
              </a:ext>
            </a:extLst>
          </p:cNvPr>
          <p:cNvSpPr>
            <a:spLocks noGrp="1"/>
          </p:cNvSpPr>
          <p:nvPr>
            <p:ph type="dt" sz="half" idx="10"/>
          </p:nvPr>
        </p:nvSpPr>
        <p:spPr/>
        <p:txBody>
          <a:bodyPr/>
          <a:lstStyle/>
          <a:p>
            <a:fld id="{6B8DE513-C7B6-CA40-A205-75DAFAA7B8A7}" type="datetimeFigureOut">
              <a:rPr lang="en-US" smtClean="0"/>
              <a:t>12/24/2025</a:t>
            </a:fld>
            <a:endParaRPr lang="en-US"/>
          </a:p>
        </p:txBody>
      </p:sp>
      <p:sp>
        <p:nvSpPr>
          <p:cNvPr id="6" name="Footer Placeholder 5">
            <a:extLst>
              <a:ext uri="{FF2B5EF4-FFF2-40B4-BE49-F238E27FC236}">
                <a16:creationId xmlns:a16="http://schemas.microsoft.com/office/drawing/2014/main" id="{F4A565FC-ACD8-4B5F-AC03-A700294A4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B4C9E58-8A4A-D169-BB15-D468012A25CD}"/>
              </a:ext>
            </a:extLst>
          </p:cNvPr>
          <p:cNvSpPr>
            <a:spLocks noGrp="1"/>
          </p:cNvSpPr>
          <p:nvPr>
            <p:ph type="sldNum" sz="quarter" idx="12"/>
          </p:nvPr>
        </p:nvSpPr>
        <p:spPr/>
        <p:txBody>
          <a:bodyPr/>
          <a:lstStyle/>
          <a:p>
            <a:fld id="{F36E8DE9-1F39-064F-BFD5-0AF42DE1DC28}" type="slidenum">
              <a:rPr lang="en-US" smtClean="0"/>
              <a:t>‹#›</a:t>
            </a:fld>
            <a:endParaRPr lang="en-US"/>
          </a:p>
        </p:txBody>
      </p:sp>
    </p:spTree>
    <p:extLst>
      <p:ext uri="{BB962C8B-B14F-4D97-AF65-F5344CB8AC3E}">
        <p14:creationId xmlns:p14="http://schemas.microsoft.com/office/powerpoint/2010/main" val="2916787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9669D-DE4B-9343-7AEE-172F9702D65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005CC8FC-D6CA-DB47-BAAF-D5F63ED08CF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7839BEF-3493-5F08-C84C-4D23811FA2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14885F3-955B-ADAC-72CD-E32A20B7E0E0}"/>
              </a:ext>
            </a:extLst>
          </p:cNvPr>
          <p:cNvSpPr>
            <a:spLocks noGrp="1"/>
          </p:cNvSpPr>
          <p:nvPr>
            <p:ph type="dt" sz="half" idx="10"/>
          </p:nvPr>
        </p:nvSpPr>
        <p:spPr/>
        <p:txBody>
          <a:bodyPr/>
          <a:lstStyle/>
          <a:p>
            <a:fld id="{6B8DE513-C7B6-CA40-A205-75DAFAA7B8A7}" type="datetimeFigureOut">
              <a:rPr lang="en-US" smtClean="0"/>
              <a:t>12/24/2025</a:t>
            </a:fld>
            <a:endParaRPr lang="en-US"/>
          </a:p>
        </p:txBody>
      </p:sp>
      <p:sp>
        <p:nvSpPr>
          <p:cNvPr id="6" name="Footer Placeholder 5">
            <a:extLst>
              <a:ext uri="{FF2B5EF4-FFF2-40B4-BE49-F238E27FC236}">
                <a16:creationId xmlns:a16="http://schemas.microsoft.com/office/drawing/2014/main" id="{D8DCE267-CFC5-A9A8-3E06-485E7D0F38F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49701BF-B753-8CF8-6AC1-28A743F57B73}"/>
              </a:ext>
            </a:extLst>
          </p:cNvPr>
          <p:cNvSpPr>
            <a:spLocks noGrp="1"/>
          </p:cNvSpPr>
          <p:nvPr>
            <p:ph type="sldNum" sz="quarter" idx="12"/>
          </p:nvPr>
        </p:nvSpPr>
        <p:spPr/>
        <p:txBody>
          <a:bodyPr/>
          <a:lstStyle/>
          <a:p>
            <a:fld id="{F36E8DE9-1F39-064F-BFD5-0AF42DE1DC28}" type="slidenum">
              <a:rPr lang="en-US" smtClean="0"/>
              <a:t>‹#›</a:t>
            </a:fld>
            <a:endParaRPr lang="en-US"/>
          </a:p>
        </p:txBody>
      </p:sp>
    </p:spTree>
    <p:extLst>
      <p:ext uri="{BB962C8B-B14F-4D97-AF65-F5344CB8AC3E}">
        <p14:creationId xmlns:p14="http://schemas.microsoft.com/office/powerpoint/2010/main" val="37566162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0D058F-9425-6992-31FB-655DC6FF7093}"/>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632249D9-47C9-6598-D235-735823629426}"/>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72985EE-91ED-202B-E5B7-64109EDB85AF}"/>
              </a:ext>
            </a:extLst>
          </p:cNvPr>
          <p:cNvSpPr>
            <a:spLocks noGrp="1"/>
          </p:cNvSpPr>
          <p:nvPr>
            <p:ph type="dt" sz="half" idx="10"/>
          </p:nvPr>
        </p:nvSpPr>
        <p:spPr/>
        <p:txBody>
          <a:bodyPr/>
          <a:lstStyle/>
          <a:p>
            <a:fld id="{6B8DE513-C7B6-CA40-A205-75DAFAA7B8A7}" type="datetimeFigureOut">
              <a:rPr lang="en-US" smtClean="0"/>
              <a:t>12/24/2025</a:t>
            </a:fld>
            <a:endParaRPr lang="en-US"/>
          </a:p>
        </p:txBody>
      </p:sp>
      <p:sp>
        <p:nvSpPr>
          <p:cNvPr id="5" name="Footer Placeholder 4">
            <a:extLst>
              <a:ext uri="{FF2B5EF4-FFF2-40B4-BE49-F238E27FC236}">
                <a16:creationId xmlns:a16="http://schemas.microsoft.com/office/drawing/2014/main" id="{11FCA5D1-F9C2-68FA-FD66-788EA37ACE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841B31-7D86-323D-7338-F57F5F3E2B31}"/>
              </a:ext>
            </a:extLst>
          </p:cNvPr>
          <p:cNvSpPr>
            <a:spLocks noGrp="1"/>
          </p:cNvSpPr>
          <p:nvPr>
            <p:ph type="sldNum" sz="quarter" idx="12"/>
          </p:nvPr>
        </p:nvSpPr>
        <p:spPr/>
        <p:txBody>
          <a:bodyPr/>
          <a:lstStyle/>
          <a:p>
            <a:fld id="{F36E8DE9-1F39-064F-BFD5-0AF42DE1DC28}" type="slidenum">
              <a:rPr lang="en-US" smtClean="0"/>
              <a:t>‹#›</a:t>
            </a:fld>
            <a:endParaRPr lang="en-US"/>
          </a:p>
        </p:txBody>
      </p:sp>
    </p:spTree>
    <p:extLst>
      <p:ext uri="{BB962C8B-B14F-4D97-AF65-F5344CB8AC3E}">
        <p14:creationId xmlns:p14="http://schemas.microsoft.com/office/powerpoint/2010/main" val="13835908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684D8E-93FD-9336-83FC-0652A4F624FE}"/>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B085B8B9-0509-9348-13E3-84DD0FB3236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F04401A-9E0C-BF89-0066-237C8422254D}"/>
              </a:ext>
            </a:extLst>
          </p:cNvPr>
          <p:cNvSpPr>
            <a:spLocks noGrp="1"/>
          </p:cNvSpPr>
          <p:nvPr>
            <p:ph type="dt" sz="half" idx="10"/>
          </p:nvPr>
        </p:nvSpPr>
        <p:spPr/>
        <p:txBody>
          <a:bodyPr/>
          <a:lstStyle/>
          <a:p>
            <a:fld id="{6B8DE513-C7B6-CA40-A205-75DAFAA7B8A7}" type="datetimeFigureOut">
              <a:rPr lang="en-US" smtClean="0"/>
              <a:t>12/24/2025</a:t>
            </a:fld>
            <a:endParaRPr lang="en-US"/>
          </a:p>
        </p:txBody>
      </p:sp>
      <p:sp>
        <p:nvSpPr>
          <p:cNvPr id="5" name="Footer Placeholder 4">
            <a:extLst>
              <a:ext uri="{FF2B5EF4-FFF2-40B4-BE49-F238E27FC236}">
                <a16:creationId xmlns:a16="http://schemas.microsoft.com/office/drawing/2014/main" id="{209E2C43-46AD-3120-C317-8379AAC53C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1C19B72-80DD-84C1-9326-7129FD2915FF}"/>
              </a:ext>
            </a:extLst>
          </p:cNvPr>
          <p:cNvSpPr>
            <a:spLocks noGrp="1"/>
          </p:cNvSpPr>
          <p:nvPr>
            <p:ph type="sldNum" sz="quarter" idx="12"/>
          </p:nvPr>
        </p:nvSpPr>
        <p:spPr/>
        <p:txBody>
          <a:bodyPr/>
          <a:lstStyle/>
          <a:p>
            <a:fld id="{F36E8DE9-1F39-064F-BFD5-0AF42DE1DC28}" type="slidenum">
              <a:rPr lang="en-US" smtClean="0"/>
              <a:t>‹#›</a:t>
            </a:fld>
            <a:endParaRPr lang="en-US"/>
          </a:p>
        </p:txBody>
      </p:sp>
    </p:spTree>
    <p:extLst>
      <p:ext uri="{BB962C8B-B14F-4D97-AF65-F5344CB8AC3E}">
        <p14:creationId xmlns:p14="http://schemas.microsoft.com/office/powerpoint/2010/main" val="26131170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775A17-AC0E-89FB-09E1-D5477259318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1A9B60CC-9109-FB19-060C-A77A301528B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EF0A34E-BCB8-772A-0018-05AB728AC54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B8DE513-C7B6-CA40-A205-75DAFAA7B8A7}" type="datetimeFigureOut">
              <a:rPr lang="en-US" smtClean="0"/>
              <a:t>12/24/2025</a:t>
            </a:fld>
            <a:endParaRPr lang="en-US"/>
          </a:p>
        </p:txBody>
      </p:sp>
      <p:sp>
        <p:nvSpPr>
          <p:cNvPr id="5" name="Footer Placeholder 4">
            <a:extLst>
              <a:ext uri="{FF2B5EF4-FFF2-40B4-BE49-F238E27FC236}">
                <a16:creationId xmlns:a16="http://schemas.microsoft.com/office/drawing/2014/main" id="{087BE0D7-7FEA-4926-0377-16A4330AD96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4AFCAA0-A5D9-751A-0726-CC91573605C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36E8DE9-1F39-064F-BFD5-0AF42DE1DC28}" type="slidenum">
              <a:rPr lang="en-US" smtClean="0"/>
              <a:t>‹#›</a:t>
            </a:fld>
            <a:endParaRPr lang="en-US"/>
          </a:p>
        </p:txBody>
      </p:sp>
    </p:spTree>
    <p:extLst>
      <p:ext uri="{BB962C8B-B14F-4D97-AF65-F5344CB8AC3E}">
        <p14:creationId xmlns:p14="http://schemas.microsoft.com/office/powerpoint/2010/main" val="15497967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E9C1315-1192-1696-0753-6E510AFF98F0}"/>
              </a:ext>
            </a:extLst>
          </p:cNvPr>
          <p:cNvSpPr txBox="1"/>
          <p:nvPr/>
        </p:nvSpPr>
        <p:spPr>
          <a:xfrm>
            <a:off x="294821" y="2571810"/>
            <a:ext cx="5039179" cy="2129878"/>
          </a:xfrm>
          <a:prstGeom prst="rect">
            <a:avLst/>
          </a:prstGeom>
          <a:noFill/>
        </p:spPr>
        <p:txBody>
          <a:bodyPr wrap="square">
            <a:spAutoFit/>
          </a:bodyPr>
          <a:lstStyle/>
          <a:p>
            <a:pPr fontAlgn="base">
              <a:lnSpc>
                <a:spcPct val="150000"/>
              </a:lnSpc>
            </a:pPr>
            <a:r>
              <a:rPr lang="en-IN" b="0" dirty="0"/>
              <a:t>Team Name : Team Phoenix</a:t>
            </a:r>
          </a:p>
          <a:p>
            <a:pPr fontAlgn="base">
              <a:lnSpc>
                <a:spcPct val="150000"/>
              </a:lnSpc>
            </a:pPr>
            <a:r>
              <a:rPr lang="en-IN" b="0" dirty="0"/>
              <a:t>Problem Statement Title : </a:t>
            </a:r>
            <a:r>
              <a:rPr lang="en-US" dirty="0"/>
              <a:t>Early Disease Detection from Medical Imaging using AI</a:t>
            </a:r>
            <a:endParaRPr lang="en-IN" b="0" dirty="0"/>
          </a:p>
          <a:p>
            <a:pPr fontAlgn="base">
              <a:lnSpc>
                <a:spcPct val="150000"/>
              </a:lnSpc>
            </a:pPr>
            <a:r>
              <a:rPr lang="en-IN" b="0" dirty="0"/>
              <a:t>Domain : </a:t>
            </a:r>
            <a:r>
              <a:rPr lang="en-IN" dirty="0"/>
              <a:t>HealthCare</a:t>
            </a:r>
            <a:br>
              <a:rPr lang="en-IN" dirty="0"/>
            </a:br>
            <a:r>
              <a:rPr lang="en-IN" dirty="0"/>
              <a:t>Team Lead : Nishant Makwana</a:t>
            </a:r>
            <a:endParaRPr lang="en-IN" b="0" dirty="0"/>
          </a:p>
        </p:txBody>
      </p:sp>
      <p:pic>
        <p:nvPicPr>
          <p:cNvPr id="3" name="Picture 2">
            <a:extLst>
              <a:ext uri="{FF2B5EF4-FFF2-40B4-BE49-F238E27FC236}">
                <a16:creationId xmlns:a16="http://schemas.microsoft.com/office/drawing/2014/main" id="{D0A76F78-8CEF-3E2D-5CA8-E48B0514F0CB}"/>
              </a:ext>
            </a:extLst>
          </p:cNvPr>
          <p:cNvPicPr>
            <a:picLocks noChangeAspect="1"/>
          </p:cNvPicPr>
          <p:nvPr/>
        </p:nvPicPr>
        <p:blipFill>
          <a:blip r:embed="rId3"/>
          <a:stretch>
            <a:fillRect/>
          </a:stretch>
        </p:blipFill>
        <p:spPr>
          <a:xfrm>
            <a:off x="5334000" y="0"/>
            <a:ext cx="6858000" cy="6858000"/>
          </a:xfrm>
          <a:prstGeom prst="rect">
            <a:avLst/>
          </a:prstGeom>
        </p:spPr>
      </p:pic>
    </p:spTree>
    <p:extLst>
      <p:ext uri="{BB962C8B-B14F-4D97-AF65-F5344CB8AC3E}">
        <p14:creationId xmlns:p14="http://schemas.microsoft.com/office/powerpoint/2010/main" val="1118425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0E0383-ED80-A4BD-EF13-0538336B83DD}"/>
            </a:ext>
          </a:extLst>
        </p:cNvPr>
        <p:cNvGrpSpPr/>
        <p:nvPr/>
      </p:nvGrpSpPr>
      <p:grpSpPr>
        <a:xfrm>
          <a:off x="0" y="0"/>
          <a:ext cx="0" cy="0"/>
          <a:chOff x="0" y="0"/>
          <a:chExt cx="0" cy="0"/>
        </a:xfrm>
      </p:grpSpPr>
      <p:sp>
        <p:nvSpPr>
          <p:cNvPr id="2" name="Google Shape;60;p14">
            <a:extLst>
              <a:ext uri="{FF2B5EF4-FFF2-40B4-BE49-F238E27FC236}">
                <a16:creationId xmlns:a16="http://schemas.microsoft.com/office/drawing/2014/main" id="{99C47A8F-2EC5-5629-37D0-7D3DC14F742A}"/>
              </a:ext>
            </a:extLst>
          </p:cNvPr>
          <p:cNvSpPr txBox="1"/>
          <p:nvPr/>
        </p:nvSpPr>
        <p:spPr>
          <a:xfrm>
            <a:off x="0" y="-11151"/>
            <a:ext cx="12192000" cy="794092"/>
          </a:xfrm>
          <a:prstGeom prst="rect">
            <a:avLst/>
          </a:prstGeom>
          <a:ln/>
        </p:spPr>
        <p:style>
          <a:lnRef idx="2">
            <a:schemeClr val="dk1">
              <a:shade val="15000"/>
            </a:schemeClr>
          </a:lnRef>
          <a:fillRef idx="1">
            <a:schemeClr val="dk1"/>
          </a:fillRef>
          <a:effectRef idx="0">
            <a:schemeClr val="dk1"/>
          </a:effectRef>
          <a:fontRef idx="minor">
            <a:schemeClr val="lt1"/>
          </a:fontRef>
        </p:style>
        <p:txBody>
          <a:bodyPr spcFirstLastPara="1" wrap="square" lIns="121900" tIns="121900" rIns="121900" bIns="121900" anchor="t" anchorCtr="0">
            <a:noAutofit/>
          </a:bodyPr>
          <a:lstStyle/>
          <a:p>
            <a:pPr algn="ctr"/>
            <a:r>
              <a:rPr lang="en-US" sz="3000" b="1" dirty="0">
                <a:latin typeface="Satoshi" pitchFamily="2" charset="77"/>
              </a:rPr>
              <a:t>Idea Description</a:t>
            </a:r>
          </a:p>
        </p:txBody>
      </p:sp>
      <p:sp>
        <p:nvSpPr>
          <p:cNvPr id="3" name="Title 5">
            <a:extLst>
              <a:ext uri="{FF2B5EF4-FFF2-40B4-BE49-F238E27FC236}">
                <a16:creationId xmlns:a16="http://schemas.microsoft.com/office/drawing/2014/main" id="{3CCA2650-31F3-66D3-6C1E-3EB9303699DF}"/>
              </a:ext>
            </a:extLst>
          </p:cNvPr>
          <p:cNvSpPr txBox="1">
            <a:spLocks/>
          </p:cNvSpPr>
          <p:nvPr/>
        </p:nvSpPr>
        <p:spPr>
          <a:xfrm>
            <a:off x="0" y="782940"/>
            <a:ext cx="12192000" cy="6075059"/>
          </a:xfrm>
          <a:prstGeom prst="rect">
            <a:avLst/>
          </a:prstGeom>
        </p:spPr>
        <p:txBody>
          <a:bodyPr vert="horz" lIns="91440" tIns="45720" rIns="91440" bIns="45720" rtlCol="0" anchor="ctr">
            <a:normAutofit fontScale="70000" lnSpcReduction="20000"/>
          </a:bodyPr>
          <a:lstStyle>
            <a:lvl1pPr algn="l" defTabSz="914400" rtl="0" eaLnBrk="1" latinLnBrk="0" hangingPunct="1">
              <a:lnSpc>
                <a:spcPct val="90000"/>
              </a:lnSpc>
              <a:spcBef>
                <a:spcPct val="0"/>
              </a:spcBef>
              <a:buNone/>
              <a:defRPr sz="4400" b="1" kern="1200">
                <a:solidFill>
                  <a:schemeClr val="tx1"/>
                </a:solidFill>
                <a:latin typeface="Satoshi" pitchFamily="2" charset="77"/>
                <a:ea typeface="+mj-ea"/>
                <a:cs typeface="+mj-cs"/>
              </a:defRPr>
            </a:lvl1pPr>
          </a:lstStyle>
          <a:p>
            <a:br>
              <a:rPr lang="en-US" sz="3200" dirty="0"/>
            </a:br>
            <a:r>
              <a:rPr lang="en-US" sz="3200" dirty="0"/>
              <a:t>How Our Idea Solves the Problem :</a:t>
            </a:r>
            <a:br>
              <a:rPr lang="en-US" sz="3200" dirty="0"/>
            </a:br>
            <a:endParaRPr lang="en-US" sz="3200" dirty="0"/>
          </a:p>
          <a:p>
            <a:r>
              <a:rPr lang="en-US" sz="3200" b="0" dirty="0" err="1"/>
              <a:t>MediScan</a:t>
            </a:r>
            <a:r>
              <a:rPr lang="en-US" sz="3200" b="0" dirty="0"/>
              <a:t> AI is an intelligent medical imaging system that addresses the critical shortage of radiologists in resource-limited healthcare settings. Our solution processes X-rays and CT scans to automatically detect early signs of tuberculosis, pneumonia, and bone fractures with explainable AI reasoning.</a:t>
            </a:r>
            <a:br>
              <a:rPr lang="en-US" sz="3200" dirty="0"/>
            </a:br>
            <a:endParaRPr lang="en-US" sz="3200" dirty="0"/>
          </a:p>
          <a:p>
            <a:r>
              <a:rPr lang="en-US" sz="3200" dirty="0"/>
              <a:t>The Healthcare Crisis We Address :</a:t>
            </a:r>
            <a:br>
              <a:rPr lang="en-US" sz="3200" dirty="0"/>
            </a:br>
            <a:endParaRPr lang="en-US" sz="3200" b="0" dirty="0"/>
          </a:p>
          <a:p>
            <a:r>
              <a:rPr lang="en-US" sz="3200" b="0" dirty="0"/>
              <a:t>- Over 10 million TB cases annually with limited diagnostic access.</a:t>
            </a:r>
          </a:p>
          <a:p>
            <a:r>
              <a:rPr lang="en-US" sz="3200" b="0" dirty="0"/>
              <a:t>- 2.5 million pneumonia deaths due to delayed diagnosis.</a:t>
            </a:r>
          </a:p>
          <a:p>
            <a:r>
              <a:rPr lang="en-US" sz="3200" b="0" dirty="0"/>
              <a:t>- 60% of rural areas lack expert radiological care.</a:t>
            </a:r>
          </a:p>
          <a:p>
            <a:r>
              <a:rPr lang="en-US" sz="3200" b="0" dirty="0"/>
              <a:t>- Manual image analysis is slow, requires specialized expertise, and often leads to delayed treatment.</a:t>
            </a:r>
            <a:br>
              <a:rPr lang="en-US" sz="3200" dirty="0"/>
            </a:br>
            <a:endParaRPr lang="en-US" sz="3200" dirty="0"/>
          </a:p>
          <a:p>
            <a:r>
              <a:rPr lang="en-US" sz="3200" dirty="0"/>
              <a:t>Our Solution Delivers :</a:t>
            </a:r>
            <a:br>
              <a:rPr lang="en-US" sz="3200" dirty="0"/>
            </a:br>
            <a:endParaRPr lang="en-US" sz="3200" b="0" dirty="0"/>
          </a:p>
          <a:p>
            <a:r>
              <a:rPr lang="en-US" sz="3200" b="0" dirty="0"/>
              <a:t>- Automated real-time analysis of medical images with 95%+ accuracy.</a:t>
            </a:r>
          </a:p>
          <a:p>
            <a:r>
              <a:rPr lang="en-US" sz="3200" b="0" dirty="0"/>
              <a:t>- Visual contour mapping that highlights abnormal regions for easy interpretation.</a:t>
            </a:r>
          </a:p>
          <a:p>
            <a:r>
              <a:rPr lang="en-US" sz="3200" b="0" dirty="0"/>
              <a:t>- Explainable AI that provides clear reasoning behind every diagnostic decision.</a:t>
            </a:r>
          </a:p>
          <a:p>
            <a:r>
              <a:rPr lang="en-US" sz="3200" b="0" dirty="0"/>
              <a:t>- Multi-disease support (TB, pneumonia, fractures) in a single integrated system.</a:t>
            </a:r>
          </a:p>
          <a:p>
            <a:r>
              <a:rPr lang="en-US" sz="3200" b="0" dirty="0"/>
              <a:t>- Resource-efficient design that works on limited computational infrastructure.</a:t>
            </a:r>
            <a:br>
              <a:rPr lang="en-US" sz="3200" dirty="0"/>
            </a:br>
            <a:endParaRPr lang="en-US" sz="3200" dirty="0"/>
          </a:p>
          <a:p>
            <a:r>
              <a:rPr lang="en-US" sz="3200" dirty="0"/>
              <a:t>Core Impact : </a:t>
            </a:r>
            <a:r>
              <a:rPr lang="en-US" sz="3200" b="0" dirty="0"/>
              <a:t>We transform diagnostic time from hours to under 3 seconds, bringing expert-level analysis to clinics where radiologists are unavailable, potentially saving thousands of lives through early intervention.</a:t>
            </a:r>
          </a:p>
          <a:p>
            <a:pPr algn="ctr"/>
            <a:endParaRPr lang="en-US" sz="3000" dirty="0"/>
          </a:p>
        </p:txBody>
      </p:sp>
    </p:spTree>
    <p:extLst>
      <p:ext uri="{BB962C8B-B14F-4D97-AF65-F5344CB8AC3E}">
        <p14:creationId xmlns:p14="http://schemas.microsoft.com/office/powerpoint/2010/main" val="25083824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EAD09F-C139-4929-49F1-2D351319C5F4}"/>
            </a:ext>
          </a:extLst>
        </p:cNvPr>
        <p:cNvGrpSpPr/>
        <p:nvPr/>
      </p:nvGrpSpPr>
      <p:grpSpPr>
        <a:xfrm>
          <a:off x="0" y="0"/>
          <a:ext cx="0" cy="0"/>
          <a:chOff x="0" y="0"/>
          <a:chExt cx="0" cy="0"/>
        </a:xfrm>
      </p:grpSpPr>
      <p:sp>
        <p:nvSpPr>
          <p:cNvPr id="2" name="Google Shape;60;p14">
            <a:extLst>
              <a:ext uri="{FF2B5EF4-FFF2-40B4-BE49-F238E27FC236}">
                <a16:creationId xmlns:a16="http://schemas.microsoft.com/office/drawing/2014/main" id="{D48B9F44-8FC4-2D12-9CD3-A33DDFFE5AC7}"/>
              </a:ext>
            </a:extLst>
          </p:cNvPr>
          <p:cNvSpPr txBox="1"/>
          <p:nvPr/>
        </p:nvSpPr>
        <p:spPr>
          <a:xfrm>
            <a:off x="0" y="-11151"/>
            <a:ext cx="12192000" cy="794092"/>
          </a:xfrm>
          <a:prstGeom prst="rect">
            <a:avLst/>
          </a:prstGeom>
          <a:ln/>
        </p:spPr>
        <p:style>
          <a:lnRef idx="2">
            <a:schemeClr val="dk1">
              <a:shade val="15000"/>
            </a:schemeClr>
          </a:lnRef>
          <a:fillRef idx="1">
            <a:schemeClr val="dk1"/>
          </a:fillRef>
          <a:effectRef idx="0">
            <a:schemeClr val="dk1"/>
          </a:effectRef>
          <a:fontRef idx="minor">
            <a:schemeClr val="lt1"/>
          </a:fontRef>
        </p:style>
        <p:txBody>
          <a:bodyPr spcFirstLastPara="1" wrap="square" lIns="121900" tIns="121900" rIns="121900" bIns="121900" anchor="t" anchorCtr="0">
            <a:noAutofit/>
          </a:bodyPr>
          <a:lstStyle/>
          <a:p>
            <a:pPr algn="ctr"/>
            <a:r>
              <a:rPr lang="en-US" sz="3000" b="1" dirty="0">
                <a:latin typeface="Satoshi" pitchFamily="2" charset="77"/>
              </a:rPr>
              <a:t>Objective &amp; Prototype</a:t>
            </a:r>
          </a:p>
        </p:txBody>
      </p:sp>
      <p:sp>
        <p:nvSpPr>
          <p:cNvPr id="3" name="Title 5">
            <a:extLst>
              <a:ext uri="{FF2B5EF4-FFF2-40B4-BE49-F238E27FC236}">
                <a16:creationId xmlns:a16="http://schemas.microsoft.com/office/drawing/2014/main" id="{F170D87C-3459-ED02-64F0-B8CCC2C283FE}"/>
              </a:ext>
            </a:extLst>
          </p:cNvPr>
          <p:cNvSpPr txBox="1">
            <a:spLocks/>
          </p:cNvSpPr>
          <p:nvPr/>
        </p:nvSpPr>
        <p:spPr>
          <a:xfrm>
            <a:off x="0" y="782941"/>
            <a:ext cx="12192000" cy="6075059"/>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b="1" kern="1200">
                <a:solidFill>
                  <a:schemeClr val="tx1"/>
                </a:solidFill>
                <a:latin typeface="Satoshi" pitchFamily="2" charset="77"/>
                <a:ea typeface="+mj-ea"/>
                <a:cs typeface="+mj-cs"/>
              </a:defRPr>
            </a:lvl1pPr>
          </a:lstStyle>
          <a:p>
            <a:r>
              <a:rPr lang="en-IN" sz="3200" dirty="0"/>
              <a:t>Project Objectives : </a:t>
            </a:r>
            <a:br>
              <a:rPr lang="en-IN" sz="3200" dirty="0"/>
            </a:br>
            <a:endParaRPr lang="en-IN" sz="3200" dirty="0"/>
          </a:p>
          <a:p>
            <a:r>
              <a:rPr lang="en-IN" sz="3200" dirty="0"/>
              <a:t>Primary Objective : </a:t>
            </a:r>
            <a:r>
              <a:rPr lang="en-IN" sz="3200" b="0" dirty="0"/>
              <a:t>Democratize access to expert-level medical diagnostics by deploying AI-powered disease detection systems in resource-limited healthcare settings.</a:t>
            </a:r>
            <a:br>
              <a:rPr lang="en-IN" sz="3200" dirty="0"/>
            </a:br>
            <a:endParaRPr lang="en-IN" sz="3200" dirty="0"/>
          </a:p>
          <a:p>
            <a:r>
              <a:rPr lang="en-IN" sz="3200" dirty="0"/>
              <a:t>Specific Goals :</a:t>
            </a:r>
            <a:br>
              <a:rPr lang="en-IN" sz="3200" dirty="0"/>
            </a:br>
            <a:endParaRPr lang="en-IN" sz="3200" dirty="0"/>
          </a:p>
          <a:p>
            <a:r>
              <a:rPr lang="en-IN" sz="3200" b="0" dirty="0"/>
              <a:t>- Achieve clinical-grade accuracy (95%+) in detecting TB, pneumonia, and bone fractures.</a:t>
            </a:r>
          </a:p>
          <a:p>
            <a:r>
              <a:rPr lang="en-IN" sz="3200" b="0" dirty="0"/>
              <a:t>- Provide explainable AI outputs with visual contour mapping for clinical validation.</a:t>
            </a:r>
          </a:p>
          <a:p>
            <a:r>
              <a:rPr lang="en-IN" sz="3200" b="0" dirty="0"/>
              <a:t>- Process medical images in under 3 seconds on standard hardware.</a:t>
            </a:r>
          </a:p>
          <a:p>
            <a:r>
              <a:rPr lang="en-IN" sz="3200" b="0" dirty="0"/>
              <a:t>- Enable deployment in rural clinics with minimal technical infrastructure.</a:t>
            </a:r>
          </a:p>
          <a:p>
            <a:r>
              <a:rPr lang="en-IN" sz="3200" b="0" dirty="0"/>
              <a:t>- Build trust through transparent, interpretable AI decision-making.</a:t>
            </a:r>
            <a:br>
              <a:rPr lang="en-IN" sz="3200" dirty="0"/>
            </a:br>
            <a:endParaRPr lang="en-IN" sz="3200" dirty="0"/>
          </a:p>
          <a:p>
            <a:r>
              <a:rPr lang="en-IN" sz="3200" dirty="0"/>
              <a:t>Prototype Design :</a:t>
            </a:r>
            <a:br>
              <a:rPr lang="en-IN" sz="3200" dirty="0"/>
            </a:br>
            <a:endParaRPr lang="en-IN" sz="3200" dirty="0"/>
          </a:p>
          <a:p>
            <a:r>
              <a:rPr lang="en-IN" sz="3200" dirty="0"/>
              <a:t>System Architecture :</a:t>
            </a:r>
            <a:br>
              <a:rPr lang="en-IN" sz="3200" dirty="0"/>
            </a:br>
            <a:endParaRPr lang="en-IN" sz="3200" dirty="0"/>
          </a:p>
          <a:p>
            <a:r>
              <a:rPr lang="en-IN" sz="3200" dirty="0"/>
              <a:t>- Input Layer : </a:t>
            </a:r>
            <a:r>
              <a:rPr lang="en-IN" sz="3200" b="0" dirty="0"/>
              <a:t>Upload X-ray/CT scan images (512x512 resolution).</a:t>
            </a:r>
            <a:br>
              <a:rPr lang="en-IN" sz="3200" dirty="0"/>
            </a:br>
            <a:endParaRPr lang="en-IN" sz="3200" dirty="0"/>
          </a:p>
          <a:p>
            <a:r>
              <a:rPr lang="en-IN" sz="3200" dirty="0"/>
              <a:t>- Preprocessing Pipeline : </a:t>
            </a:r>
            <a:r>
              <a:rPr lang="en-IN" sz="3200" b="0" dirty="0"/>
              <a:t>CLAHE enhancement, normalization, denoising, and standardization.</a:t>
            </a:r>
            <a:br>
              <a:rPr lang="en-IN" sz="3200" dirty="0"/>
            </a:br>
            <a:endParaRPr lang="en-IN" sz="3200" dirty="0"/>
          </a:p>
          <a:p>
            <a:r>
              <a:rPr lang="en-IN" sz="3200" dirty="0"/>
              <a:t>- Deep Learning Core : </a:t>
            </a:r>
            <a:r>
              <a:rPr lang="en-IN" sz="3200" b="0" dirty="0"/>
              <a:t>ResNet-50 backbone with attention mechanisms for feature extraction.</a:t>
            </a:r>
            <a:br>
              <a:rPr lang="en-IN" sz="3200" b="0" dirty="0"/>
            </a:br>
            <a:endParaRPr lang="en-IN" sz="3200" b="0" dirty="0"/>
          </a:p>
          <a:p>
            <a:r>
              <a:rPr lang="en-IN" sz="3200" dirty="0"/>
              <a:t>- Multi-Task Processing : </a:t>
            </a:r>
            <a:r>
              <a:rPr lang="en-IN" sz="3200" b="0" dirty="0"/>
              <a:t>Simultaneous disease classification and abnormality segmentation.</a:t>
            </a:r>
            <a:br>
              <a:rPr lang="en-IN" sz="3200" dirty="0"/>
            </a:br>
            <a:endParaRPr lang="en-IN" sz="3200" dirty="0"/>
          </a:p>
          <a:p>
            <a:r>
              <a:rPr lang="en-IN" sz="3200" dirty="0"/>
              <a:t>- Visualization Engine : </a:t>
            </a:r>
            <a:r>
              <a:rPr lang="en-IN" sz="3200" b="0" dirty="0"/>
              <a:t>U-Net segmentation generating contour overlays and Grad-CAM heatmaps.</a:t>
            </a:r>
            <a:br>
              <a:rPr lang="en-IN" sz="3200" dirty="0"/>
            </a:br>
            <a:endParaRPr lang="en-IN" sz="3200" dirty="0"/>
          </a:p>
          <a:p>
            <a:r>
              <a:rPr lang="en-IN" sz="3200" dirty="0"/>
              <a:t>Output Interface : </a:t>
            </a:r>
            <a:r>
              <a:rPr lang="en-IN" sz="3200" b="0" dirty="0"/>
              <a:t>Disease classification + confidence scores + annotated images with highlighted regions.</a:t>
            </a:r>
            <a:br>
              <a:rPr lang="en-IN" sz="3200" dirty="0"/>
            </a:br>
            <a:endParaRPr lang="en-IN" sz="3200" dirty="0"/>
          </a:p>
          <a:p>
            <a:r>
              <a:rPr lang="en-IN" sz="3200" dirty="0"/>
              <a:t>Technical Flow : Image Upload → Preprocessing &amp; Enhancement → CNN Analysis → Feature Extraction → Disease Classification → Contour Mapping → Explainable Results with Visual Feedback.</a:t>
            </a:r>
            <a:br>
              <a:rPr lang="en-IN" sz="3200" dirty="0"/>
            </a:br>
            <a:endParaRPr lang="en-IN" sz="3200" dirty="0"/>
          </a:p>
          <a:p>
            <a:r>
              <a:rPr lang="en-IN" sz="3200" dirty="0"/>
              <a:t>User Interface : </a:t>
            </a:r>
            <a:r>
              <a:rPr lang="en-IN" sz="3200" b="0" dirty="0"/>
              <a:t>React.js frontend allowing healthcare workers to upload images, view real-time analysis, and access detailed explanations with color-coded visual overlays (red for high-risk areas, yellow for moderate concern).</a:t>
            </a:r>
          </a:p>
        </p:txBody>
      </p:sp>
    </p:spTree>
    <p:extLst>
      <p:ext uri="{BB962C8B-B14F-4D97-AF65-F5344CB8AC3E}">
        <p14:creationId xmlns:p14="http://schemas.microsoft.com/office/powerpoint/2010/main" val="15509710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AC6134-97E7-6035-F4A0-3648F62F6AE9}"/>
            </a:ext>
          </a:extLst>
        </p:cNvPr>
        <p:cNvGrpSpPr/>
        <p:nvPr/>
      </p:nvGrpSpPr>
      <p:grpSpPr>
        <a:xfrm>
          <a:off x="0" y="0"/>
          <a:ext cx="0" cy="0"/>
          <a:chOff x="0" y="0"/>
          <a:chExt cx="0" cy="0"/>
        </a:xfrm>
      </p:grpSpPr>
      <p:sp>
        <p:nvSpPr>
          <p:cNvPr id="2" name="Google Shape;60;p14">
            <a:extLst>
              <a:ext uri="{FF2B5EF4-FFF2-40B4-BE49-F238E27FC236}">
                <a16:creationId xmlns:a16="http://schemas.microsoft.com/office/drawing/2014/main" id="{87ED1879-1815-994A-0E37-38AFCD49144B}"/>
              </a:ext>
            </a:extLst>
          </p:cNvPr>
          <p:cNvSpPr txBox="1"/>
          <p:nvPr/>
        </p:nvSpPr>
        <p:spPr>
          <a:xfrm>
            <a:off x="0" y="-11151"/>
            <a:ext cx="12192000" cy="794092"/>
          </a:xfrm>
          <a:prstGeom prst="rect">
            <a:avLst/>
          </a:prstGeom>
          <a:ln/>
        </p:spPr>
        <p:style>
          <a:lnRef idx="2">
            <a:schemeClr val="dk1">
              <a:shade val="15000"/>
            </a:schemeClr>
          </a:lnRef>
          <a:fillRef idx="1">
            <a:schemeClr val="dk1"/>
          </a:fillRef>
          <a:effectRef idx="0">
            <a:schemeClr val="dk1"/>
          </a:effectRef>
          <a:fontRef idx="minor">
            <a:schemeClr val="lt1"/>
          </a:fontRef>
        </p:style>
        <p:txBody>
          <a:bodyPr spcFirstLastPara="1" wrap="square" lIns="121900" tIns="121900" rIns="121900" bIns="121900" anchor="t" anchorCtr="0">
            <a:noAutofit/>
          </a:bodyPr>
          <a:lstStyle/>
          <a:p>
            <a:pPr algn="ctr"/>
            <a:r>
              <a:rPr lang="en-US" sz="3000" b="1" dirty="0">
                <a:latin typeface="Satoshi" pitchFamily="2" charset="77"/>
              </a:rPr>
              <a:t>Feasibility</a:t>
            </a:r>
          </a:p>
        </p:txBody>
      </p:sp>
      <p:sp>
        <p:nvSpPr>
          <p:cNvPr id="3" name="Title 5">
            <a:extLst>
              <a:ext uri="{FF2B5EF4-FFF2-40B4-BE49-F238E27FC236}">
                <a16:creationId xmlns:a16="http://schemas.microsoft.com/office/drawing/2014/main" id="{021BE928-FD25-4500-C47D-CB50ADE7F144}"/>
              </a:ext>
            </a:extLst>
          </p:cNvPr>
          <p:cNvSpPr txBox="1">
            <a:spLocks/>
          </p:cNvSpPr>
          <p:nvPr/>
        </p:nvSpPr>
        <p:spPr>
          <a:xfrm>
            <a:off x="0" y="782942"/>
            <a:ext cx="12192000" cy="6075058"/>
          </a:xfrm>
          <a:prstGeom prst="rect">
            <a:avLst/>
          </a:prstGeom>
        </p:spPr>
        <p:txBody>
          <a:bodyPr vert="horz" lIns="91440" tIns="45720" rIns="91440" bIns="45720" rtlCol="0" anchor="ctr">
            <a:normAutofit fontScale="40000" lnSpcReduction="20000"/>
          </a:bodyPr>
          <a:lstStyle>
            <a:lvl1pPr algn="l" defTabSz="914400" rtl="0" eaLnBrk="1" latinLnBrk="0" hangingPunct="1">
              <a:lnSpc>
                <a:spcPct val="90000"/>
              </a:lnSpc>
              <a:spcBef>
                <a:spcPct val="0"/>
              </a:spcBef>
              <a:buNone/>
              <a:defRPr sz="4400" b="1" kern="1200">
                <a:solidFill>
                  <a:schemeClr val="tx1"/>
                </a:solidFill>
                <a:latin typeface="Satoshi" pitchFamily="2" charset="77"/>
                <a:ea typeface="+mj-ea"/>
                <a:cs typeface="+mj-cs"/>
              </a:defRPr>
            </a:lvl1pPr>
          </a:lstStyle>
          <a:p>
            <a:r>
              <a:rPr lang="en-US" sz="3200" dirty="0"/>
              <a:t>Implementation Feasibility :</a:t>
            </a:r>
            <a:br>
              <a:rPr lang="en-US" sz="3200" dirty="0"/>
            </a:br>
            <a:endParaRPr lang="en-US" sz="3200" dirty="0"/>
          </a:p>
          <a:p>
            <a:r>
              <a:rPr lang="en-US" sz="3200" dirty="0"/>
              <a:t>Technical Feasibility :</a:t>
            </a:r>
            <a:br>
              <a:rPr lang="en-US" sz="3200" dirty="0"/>
            </a:br>
            <a:endParaRPr lang="en-US" sz="3200" dirty="0"/>
          </a:p>
          <a:p>
            <a:r>
              <a:rPr lang="en-US" sz="3200" b="0" dirty="0"/>
              <a:t>- Proven deep learning architectures (ResNet-50, </a:t>
            </a:r>
            <a:r>
              <a:rPr lang="en-US" sz="3200" b="0" dirty="0" err="1"/>
              <a:t>DenseNet</a:t>
            </a:r>
            <a:r>
              <a:rPr lang="en-US" sz="3200" b="0" dirty="0"/>
              <a:t>, U-Net) with established success in medical imaging.</a:t>
            </a:r>
          </a:p>
          <a:p>
            <a:r>
              <a:rPr lang="en-US" sz="3200" b="0" dirty="0"/>
              <a:t>- Access to high-quality public datasets: ChestX-ray14 (112K images), TBX11K (11.2K TB images), RSNA Pneumonia (30K images), MURA (40K fracture images).</a:t>
            </a:r>
          </a:p>
          <a:p>
            <a:r>
              <a:rPr lang="en-US" sz="3200" b="0" dirty="0"/>
              <a:t>- Mature technology stack: TensorFlow/</a:t>
            </a:r>
            <a:r>
              <a:rPr lang="en-US" sz="3200" b="0" dirty="0" err="1"/>
              <a:t>PyTorch</a:t>
            </a:r>
            <a:r>
              <a:rPr lang="en-US" sz="3200" b="0" dirty="0"/>
              <a:t> for modeling, OpenCV for image processing, Flask/</a:t>
            </a:r>
            <a:r>
              <a:rPr lang="en-US" sz="3200" b="0" dirty="0" err="1"/>
              <a:t>FastAPI</a:t>
            </a:r>
            <a:r>
              <a:rPr lang="en-US" sz="3200" b="0" dirty="0"/>
              <a:t> for backend, React.js for frontend.</a:t>
            </a:r>
          </a:p>
          <a:p>
            <a:r>
              <a:rPr lang="en-US" sz="3200" b="0" dirty="0"/>
              <a:t>- GPU acceleration available through cloud platforms (Google </a:t>
            </a:r>
            <a:r>
              <a:rPr lang="en-US" sz="3200" b="0" dirty="0" err="1"/>
              <a:t>Colab</a:t>
            </a:r>
            <a:r>
              <a:rPr lang="en-US" sz="3200" b="0" dirty="0"/>
              <a:t>, AWS, Azure) for training.</a:t>
            </a:r>
          </a:p>
          <a:p>
            <a:r>
              <a:rPr lang="en-US" sz="3200" b="0" dirty="0"/>
              <a:t>- Explainable AI techniques (Grad-CAM, LIME, Attention Maps) are well-documented and implementable.</a:t>
            </a:r>
            <a:br>
              <a:rPr lang="en-US" sz="3200" dirty="0"/>
            </a:br>
            <a:endParaRPr lang="en-US" sz="3200" dirty="0"/>
          </a:p>
          <a:p>
            <a:r>
              <a:rPr lang="en-US" sz="3200" dirty="0"/>
              <a:t>Resource Feasibility :</a:t>
            </a:r>
            <a:br>
              <a:rPr lang="en-US" sz="3200" dirty="0"/>
            </a:br>
            <a:endParaRPr lang="en-US" sz="3200" dirty="0"/>
          </a:p>
          <a:p>
            <a:r>
              <a:rPr lang="en-US" sz="3200" b="0" dirty="0"/>
              <a:t>-All datasets are freely available from reputable medical institutions.</a:t>
            </a:r>
          </a:p>
          <a:p>
            <a:r>
              <a:rPr lang="en-US" sz="3200" b="0" dirty="0"/>
              <a:t>- Open-source frameworks eliminate licensing costs.</a:t>
            </a:r>
          </a:p>
          <a:p>
            <a:r>
              <a:rPr lang="en-US" sz="3200" b="0" dirty="0"/>
              <a:t>- Model can run on standard hardware (processing time &lt;3 seconds per image).</a:t>
            </a:r>
          </a:p>
          <a:p>
            <a:r>
              <a:rPr lang="en-US" sz="3200" b="0" dirty="0"/>
              <a:t>- Cloud deployment options (AWS, Google Cloud) provide scalable infrastructure.</a:t>
            </a:r>
          </a:p>
          <a:p>
            <a:r>
              <a:rPr lang="en-US" sz="3200" b="0" dirty="0"/>
              <a:t>- Estimated development timeline: 36-hour hackathon implementation is achievable with focused team effort.</a:t>
            </a:r>
            <a:br>
              <a:rPr lang="en-US" sz="3200" dirty="0"/>
            </a:br>
            <a:endParaRPr lang="en-US" sz="3200" dirty="0"/>
          </a:p>
          <a:p>
            <a:r>
              <a:rPr lang="en-US" sz="3200" dirty="0"/>
              <a:t>Deployment Feasibility :</a:t>
            </a:r>
            <a:br>
              <a:rPr lang="en-US" sz="3200" dirty="0"/>
            </a:br>
            <a:endParaRPr lang="en-US" sz="3200" dirty="0"/>
          </a:p>
          <a:p>
            <a:r>
              <a:rPr lang="en-US" sz="3200" b="0" dirty="0"/>
              <a:t>- Lightweight model architecture suitable for resource-constrained environments.</a:t>
            </a:r>
          </a:p>
          <a:p>
            <a:r>
              <a:rPr lang="en-US" sz="3200" b="0" dirty="0"/>
              <a:t>- Web-based interface accessible from any device with internet connectivity.</a:t>
            </a:r>
          </a:p>
          <a:p>
            <a:r>
              <a:rPr lang="en-US" sz="3200" b="0" dirty="0"/>
              <a:t>- Offline mode possible with local model deployment for remote areas.</a:t>
            </a:r>
          </a:p>
          <a:p>
            <a:r>
              <a:rPr lang="en-US" sz="3200" b="0" dirty="0"/>
              <a:t>- Minimal training required for healthcare workers to use the system.</a:t>
            </a:r>
          </a:p>
          <a:p>
            <a:r>
              <a:rPr lang="en-US" sz="3200" b="0" dirty="0"/>
              <a:t>- Integration possible with existing hospital information systems via REST APIs.</a:t>
            </a:r>
            <a:br>
              <a:rPr lang="en-US" sz="3200" b="0" dirty="0"/>
            </a:br>
            <a:endParaRPr lang="en-US" sz="3200" dirty="0"/>
          </a:p>
          <a:p>
            <a:r>
              <a:rPr lang="en-US" sz="3200" dirty="0"/>
              <a:t>Economic Feasibility :</a:t>
            </a:r>
            <a:br>
              <a:rPr lang="en-US" sz="3200" b="0" dirty="0"/>
            </a:br>
            <a:endParaRPr lang="en-US" sz="3200" b="0" dirty="0"/>
          </a:p>
          <a:p>
            <a:r>
              <a:rPr lang="en-US" sz="3200" b="0" dirty="0"/>
              <a:t>- Reduces diagnostic costs by up to 70% by eliminating specialist consultation needs.</a:t>
            </a:r>
          </a:p>
          <a:p>
            <a:r>
              <a:rPr lang="en-US" sz="3200" b="0" dirty="0"/>
              <a:t>- One-time development cost with minimal ongoing maintenance expenses.</a:t>
            </a:r>
          </a:p>
          <a:p>
            <a:r>
              <a:rPr lang="en-US" sz="3200" b="0" dirty="0"/>
              <a:t>- Potential for government and NGO partnerships for deployment funding.</a:t>
            </a:r>
          </a:p>
          <a:p>
            <a:r>
              <a:rPr lang="en-US" sz="3200" b="0" dirty="0"/>
              <a:t>- Return on investment through improved patient outcomes and reduced treatment costs from early detection.</a:t>
            </a:r>
          </a:p>
          <a:p>
            <a:br>
              <a:rPr lang="en-US" sz="3200" dirty="0"/>
            </a:br>
            <a:r>
              <a:rPr lang="en-US" sz="3200" dirty="0"/>
              <a:t>Regulatory &amp; Ethical Feasibility :</a:t>
            </a:r>
            <a:br>
              <a:rPr lang="en-US" sz="3200" dirty="0"/>
            </a:br>
            <a:endParaRPr lang="en-US" sz="3200" dirty="0"/>
          </a:p>
          <a:p>
            <a:r>
              <a:rPr lang="en-US" sz="3200" b="0" dirty="0"/>
              <a:t>- Explainable AI ensures transparency for clinical validation and regulatory approval.</a:t>
            </a:r>
          </a:p>
          <a:p>
            <a:r>
              <a:rPr lang="en-US" sz="3200" b="0" dirty="0"/>
              <a:t>- System designed as clinical decision support tool (not replacement for doctors).</a:t>
            </a:r>
          </a:p>
          <a:p>
            <a:r>
              <a:rPr lang="en-US" sz="3200" b="0" dirty="0"/>
              <a:t>- Privacy-preserving design with local processing options.</a:t>
            </a:r>
          </a:p>
          <a:p>
            <a:r>
              <a:rPr lang="en-US" sz="3200" b="0" dirty="0"/>
              <a:t>- Compliance pathway clear through FDA's Software as Medical Device (SaMD) framework</a:t>
            </a:r>
            <a:r>
              <a:rPr lang="en-US" sz="3000" b="0" dirty="0"/>
              <a:t>.</a:t>
            </a:r>
            <a:endParaRPr lang="en-US" sz="3200" b="0" dirty="0"/>
          </a:p>
        </p:txBody>
      </p:sp>
    </p:spTree>
    <p:extLst>
      <p:ext uri="{BB962C8B-B14F-4D97-AF65-F5344CB8AC3E}">
        <p14:creationId xmlns:p14="http://schemas.microsoft.com/office/powerpoint/2010/main" val="31564448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151E76-85FC-2FB1-EE33-3C1211E761A9}"/>
            </a:ext>
          </a:extLst>
        </p:cNvPr>
        <p:cNvGrpSpPr/>
        <p:nvPr/>
      </p:nvGrpSpPr>
      <p:grpSpPr>
        <a:xfrm>
          <a:off x="0" y="0"/>
          <a:ext cx="0" cy="0"/>
          <a:chOff x="0" y="0"/>
          <a:chExt cx="0" cy="0"/>
        </a:xfrm>
      </p:grpSpPr>
      <p:sp>
        <p:nvSpPr>
          <p:cNvPr id="2" name="Google Shape;60;p14">
            <a:extLst>
              <a:ext uri="{FF2B5EF4-FFF2-40B4-BE49-F238E27FC236}">
                <a16:creationId xmlns:a16="http://schemas.microsoft.com/office/drawing/2014/main" id="{D6CBA30C-ABC0-3704-2124-5B242EA58874}"/>
              </a:ext>
            </a:extLst>
          </p:cNvPr>
          <p:cNvSpPr txBox="1"/>
          <p:nvPr/>
        </p:nvSpPr>
        <p:spPr>
          <a:xfrm>
            <a:off x="0" y="-11151"/>
            <a:ext cx="12192000" cy="794092"/>
          </a:xfrm>
          <a:prstGeom prst="rect">
            <a:avLst/>
          </a:prstGeom>
          <a:ln/>
        </p:spPr>
        <p:style>
          <a:lnRef idx="2">
            <a:schemeClr val="dk1">
              <a:shade val="15000"/>
            </a:schemeClr>
          </a:lnRef>
          <a:fillRef idx="1">
            <a:schemeClr val="dk1"/>
          </a:fillRef>
          <a:effectRef idx="0">
            <a:schemeClr val="dk1"/>
          </a:effectRef>
          <a:fontRef idx="minor">
            <a:schemeClr val="lt1"/>
          </a:fontRef>
        </p:style>
        <p:txBody>
          <a:bodyPr spcFirstLastPara="1" wrap="square" lIns="121900" tIns="121900" rIns="121900" bIns="121900" anchor="t" anchorCtr="0">
            <a:noAutofit/>
          </a:bodyPr>
          <a:lstStyle/>
          <a:p>
            <a:pPr algn="ctr"/>
            <a:r>
              <a:rPr lang="en-US" sz="3000" b="1" dirty="0">
                <a:latin typeface="Satoshi" pitchFamily="2" charset="77"/>
              </a:rPr>
              <a:t>Unique Innovation</a:t>
            </a:r>
          </a:p>
        </p:txBody>
      </p:sp>
      <p:sp>
        <p:nvSpPr>
          <p:cNvPr id="3" name="Title 5">
            <a:extLst>
              <a:ext uri="{FF2B5EF4-FFF2-40B4-BE49-F238E27FC236}">
                <a16:creationId xmlns:a16="http://schemas.microsoft.com/office/drawing/2014/main" id="{D07B4BD2-B8E0-8AE4-7701-1705C387070E}"/>
              </a:ext>
            </a:extLst>
          </p:cNvPr>
          <p:cNvSpPr txBox="1">
            <a:spLocks/>
          </p:cNvSpPr>
          <p:nvPr/>
        </p:nvSpPr>
        <p:spPr>
          <a:xfrm>
            <a:off x="0" y="782940"/>
            <a:ext cx="12192000" cy="6075059"/>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b="1" kern="1200">
                <a:solidFill>
                  <a:schemeClr val="tx1"/>
                </a:solidFill>
                <a:latin typeface="Satoshi" pitchFamily="2" charset="77"/>
                <a:ea typeface="+mj-ea"/>
                <a:cs typeface="+mj-cs"/>
              </a:defRPr>
            </a:lvl1pPr>
          </a:lstStyle>
          <a:p>
            <a:r>
              <a:rPr lang="en-US" sz="3200" dirty="0"/>
              <a:t>What Makes </a:t>
            </a:r>
            <a:r>
              <a:rPr lang="en-US" sz="3200" dirty="0" err="1"/>
              <a:t>MediScan</a:t>
            </a:r>
            <a:r>
              <a:rPr lang="en-US" sz="3200" dirty="0"/>
              <a:t> AI Innovative :</a:t>
            </a:r>
            <a:br>
              <a:rPr lang="en-US" sz="3200" dirty="0"/>
            </a:br>
            <a:endParaRPr lang="en-US" sz="3200" dirty="0"/>
          </a:p>
          <a:p>
            <a:r>
              <a:rPr lang="en-US" sz="3200" b="0" dirty="0"/>
              <a:t>1. Multi-Disease Detection in Single System Unlike existing solutions that focus on one disease, </a:t>
            </a:r>
            <a:r>
              <a:rPr lang="en-US" sz="3200" b="0" dirty="0" err="1"/>
              <a:t>MediScan</a:t>
            </a:r>
            <a:r>
              <a:rPr lang="en-US" sz="3200" b="0" dirty="0"/>
              <a:t> AI simultaneously detects tuberculosis, pneumonia, and bone fractures, providing comprehensive diagnostic support from a unified platform.</a:t>
            </a:r>
            <a:br>
              <a:rPr lang="en-US" sz="3200" b="0" dirty="0"/>
            </a:br>
            <a:endParaRPr lang="en-US" sz="3200" b="0" dirty="0"/>
          </a:p>
          <a:p>
            <a:r>
              <a:rPr lang="en-US" sz="3200" b="0" dirty="0"/>
              <a:t>2. Advanced Contour Mapping Technology We implement pixel-level segmentation using U-Net architecture combined with OpenCV edge detection to create precise visual overlays. This transforms abstract AI predictions into intuitive, actionable visual feedback that healthcare workers can immediately understand and act upon—even without radiology training.</a:t>
            </a:r>
            <a:br>
              <a:rPr lang="en-US" sz="3200" b="0" dirty="0"/>
            </a:br>
            <a:endParaRPr lang="en-US" sz="3200" b="0" dirty="0"/>
          </a:p>
          <a:p>
            <a:r>
              <a:rPr lang="en-US" sz="3200" b="0" dirty="0"/>
              <a:t>3. True Explainable AI (XAI) We don't just classify—we explain WHY. Our implementation of Grad-CAM, LIME, and attention mechanisms provides transparent reasoning for every diagnosis. Healthcare providers can see exactly which image regions influenced the AI's decision, building trust and enabling clinical validation.</a:t>
            </a:r>
            <a:br>
              <a:rPr lang="en-US" sz="3200" b="0" dirty="0"/>
            </a:br>
            <a:endParaRPr lang="en-US" sz="3200" b="0" dirty="0"/>
          </a:p>
          <a:p>
            <a:r>
              <a:rPr lang="en-US" sz="3200" b="0" dirty="0"/>
              <a:t>4. Resource-Optimized for Developing Regions While most medical AI systems require expensive hardware, our architecture is specifically optimized for resource-limited settings. Processing time under 3 seconds on standard CPUs, offline capability, and minimal bandwidth requirements make deployment feasible in rural clinics and mobile health units.</a:t>
            </a:r>
            <a:br>
              <a:rPr lang="en-US" sz="3200" b="0" dirty="0"/>
            </a:br>
            <a:endParaRPr lang="en-US" sz="3200" b="0" dirty="0"/>
          </a:p>
          <a:p>
            <a:r>
              <a:rPr lang="en-US" sz="3200" b="0" dirty="0"/>
              <a:t>5. Hybrid Architecture with Attention Mechanisms Our innovative combination of ResNet-50 feature extraction with spatial attention modules allows the model to automatically focus on diagnostically relevant regions, mimicking how experienced radiologists scan images—improving both accuracy and interpretability.</a:t>
            </a:r>
            <a:br>
              <a:rPr lang="en-US" sz="3200" b="0" dirty="0"/>
            </a:br>
            <a:endParaRPr lang="en-US" sz="3200" b="0" dirty="0"/>
          </a:p>
          <a:p>
            <a:r>
              <a:rPr lang="en-US" sz="3200" b="0" dirty="0"/>
              <a:t>6. Real-Time Visual Feedback Loop The integration of classification, segmentation, and visualization in a single inference pipeline provides instant, comprehensive results. Healthcare workers receive not just a diagnosis but a fully annotated image with color-coded risk zones within seconds.</a:t>
            </a:r>
            <a:br>
              <a:rPr lang="en-US" sz="3200" b="0" dirty="0"/>
            </a:br>
            <a:endParaRPr lang="en-US" sz="3200" b="0" dirty="0"/>
          </a:p>
          <a:p>
            <a:r>
              <a:rPr lang="en-US" sz="3200" b="0" dirty="0"/>
              <a:t>7. Robust to Real-World Variability Extensive data augmentation and preprocessing pipeline (CLAHE, denoising, normalization) ensure the model performs consistently across different X-ray machines, image qualities, and acquisition parameters—critical for deployment across diverse healthcare facilities.</a:t>
            </a:r>
            <a:br>
              <a:rPr lang="en-US" sz="3200" dirty="0"/>
            </a:br>
            <a:endParaRPr lang="en-US" sz="3200" dirty="0"/>
          </a:p>
          <a:p>
            <a:r>
              <a:rPr lang="en-US" sz="3200" dirty="0"/>
              <a:t>Innovation Impact : </a:t>
            </a:r>
            <a:r>
              <a:rPr lang="en-US" sz="3200" dirty="0" err="1"/>
              <a:t>MediScan</a:t>
            </a:r>
            <a:r>
              <a:rPr lang="en-US" sz="3200" dirty="0"/>
              <a:t> AI bridges the gap between cutting-edge AI research and practical clinical deployment, making world-class diagnostics accessible to underserved populations while maintaining the transparency and trust essential for healthcare applications.</a:t>
            </a:r>
          </a:p>
        </p:txBody>
      </p:sp>
    </p:spTree>
    <p:extLst>
      <p:ext uri="{BB962C8B-B14F-4D97-AF65-F5344CB8AC3E}">
        <p14:creationId xmlns:p14="http://schemas.microsoft.com/office/powerpoint/2010/main" val="13092284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646DBA-C7C2-5292-127A-F37480C583E4}"/>
            </a:ext>
          </a:extLst>
        </p:cNvPr>
        <p:cNvGrpSpPr/>
        <p:nvPr/>
      </p:nvGrpSpPr>
      <p:grpSpPr>
        <a:xfrm>
          <a:off x="0" y="0"/>
          <a:ext cx="0" cy="0"/>
          <a:chOff x="0" y="0"/>
          <a:chExt cx="0" cy="0"/>
        </a:xfrm>
      </p:grpSpPr>
      <p:sp>
        <p:nvSpPr>
          <p:cNvPr id="2" name="Google Shape;60;p14">
            <a:extLst>
              <a:ext uri="{FF2B5EF4-FFF2-40B4-BE49-F238E27FC236}">
                <a16:creationId xmlns:a16="http://schemas.microsoft.com/office/drawing/2014/main" id="{391897EF-1191-CCA1-6A75-12BADB8D34AC}"/>
              </a:ext>
            </a:extLst>
          </p:cNvPr>
          <p:cNvSpPr txBox="1"/>
          <p:nvPr/>
        </p:nvSpPr>
        <p:spPr>
          <a:xfrm>
            <a:off x="0" y="-11151"/>
            <a:ext cx="12192000" cy="794092"/>
          </a:xfrm>
          <a:prstGeom prst="rect">
            <a:avLst/>
          </a:prstGeom>
          <a:ln/>
        </p:spPr>
        <p:style>
          <a:lnRef idx="2">
            <a:schemeClr val="dk1">
              <a:shade val="15000"/>
            </a:schemeClr>
          </a:lnRef>
          <a:fillRef idx="1">
            <a:schemeClr val="dk1"/>
          </a:fillRef>
          <a:effectRef idx="0">
            <a:schemeClr val="dk1"/>
          </a:effectRef>
          <a:fontRef idx="minor">
            <a:schemeClr val="lt1"/>
          </a:fontRef>
        </p:style>
        <p:txBody>
          <a:bodyPr spcFirstLastPara="1" wrap="square" lIns="121900" tIns="121900" rIns="121900" bIns="121900" anchor="t" anchorCtr="0">
            <a:noAutofit/>
          </a:bodyPr>
          <a:lstStyle/>
          <a:p>
            <a:pPr algn="ctr"/>
            <a:r>
              <a:rPr lang="en-US" sz="3000" b="1" dirty="0">
                <a:latin typeface="Satoshi" pitchFamily="2" charset="77"/>
              </a:rPr>
              <a:t>Team Member Details</a:t>
            </a:r>
          </a:p>
        </p:txBody>
      </p:sp>
      <p:graphicFrame>
        <p:nvGraphicFramePr>
          <p:cNvPr id="4" name="Table 3">
            <a:extLst>
              <a:ext uri="{FF2B5EF4-FFF2-40B4-BE49-F238E27FC236}">
                <a16:creationId xmlns:a16="http://schemas.microsoft.com/office/drawing/2014/main" id="{9FB8A442-26ED-CE66-2900-2BDD3ACA4084}"/>
              </a:ext>
            </a:extLst>
          </p:cNvPr>
          <p:cNvGraphicFramePr>
            <a:graphicFrameLocks noGrp="1"/>
          </p:cNvGraphicFramePr>
          <p:nvPr>
            <p:extLst>
              <p:ext uri="{D42A27DB-BD31-4B8C-83A1-F6EECF244321}">
                <p14:modId xmlns:p14="http://schemas.microsoft.com/office/powerpoint/2010/main" val="2690349948"/>
              </p:ext>
            </p:extLst>
          </p:nvPr>
        </p:nvGraphicFramePr>
        <p:xfrm>
          <a:off x="1567986" y="2316480"/>
          <a:ext cx="9056028" cy="3571240"/>
        </p:xfrm>
        <a:graphic>
          <a:graphicData uri="http://schemas.openxmlformats.org/drawingml/2006/table">
            <a:tbl>
              <a:tblPr firstRow="1" bandRow="1">
                <a:tableStyleId>{7E9639D4-E3E2-4D34-9284-5A2195B3D0D7}</a:tableStyleId>
              </a:tblPr>
              <a:tblGrid>
                <a:gridCol w="2264007">
                  <a:extLst>
                    <a:ext uri="{9D8B030D-6E8A-4147-A177-3AD203B41FA5}">
                      <a16:colId xmlns:a16="http://schemas.microsoft.com/office/drawing/2014/main" val="3401576790"/>
                    </a:ext>
                  </a:extLst>
                </a:gridCol>
                <a:gridCol w="2264007">
                  <a:extLst>
                    <a:ext uri="{9D8B030D-6E8A-4147-A177-3AD203B41FA5}">
                      <a16:colId xmlns:a16="http://schemas.microsoft.com/office/drawing/2014/main" val="2951707054"/>
                    </a:ext>
                  </a:extLst>
                </a:gridCol>
                <a:gridCol w="2264007">
                  <a:extLst>
                    <a:ext uri="{9D8B030D-6E8A-4147-A177-3AD203B41FA5}">
                      <a16:colId xmlns:a16="http://schemas.microsoft.com/office/drawing/2014/main" val="1747919049"/>
                    </a:ext>
                  </a:extLst>
                </a:gridCol>
                <a:gridCol w="2264007">
                  <a:extLst>
                    <a:ext uri="{9D8B030D-6E8A-4147-A177-3AD203B41FA5}">
                      <a16:colId xmlns:a16="http://schemas.microsoft.com/office/drawing/2014/main" val="678425512"/>
                    </a:ext>
                  </a:extLst>
                </a:gridCol>
              </a:tblGrid>
              <a:tr h="370840">
                <a:tc>
                  <a:txBody>
                    <a:bodyPr/>
                    <a:lstStyle/>
                    <a:p>
                      <a:r>
                        <a:rPr lang="en-US" dirty="0"/>
                        <a:t>Member 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Role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Degree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Semester</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1064712"/>
                  </a:ext>
                </a:extLst>
              </a:tr>
              <a:tr h="370840">
                <a:tc>
                  <a:txBody>
                    <a:bodyPr/>
                    <a:lstStyle/>
                    <a:p>
                      <a:r>
                        <a:rPr lang="en-US" dirty="0"/>
                        <a:t>Nishant Makwana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Team Lead &amp; AI/ML Architect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 E. Information Technology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1506467"/>
                  </a:ext>
                </a:extLst>
              </a:tr>
              <a:tr h="370840">
                <a:tc>
                  <a:txBody>
                    <a:bodyPr/>
                    <a:lstStyle/>
                    <a:p>
                      <a:r>
                        <a:rPr lang="en-US" dirty="0"/>
                        <a:t>Rajan Parmar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Deep Learning Engineer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 Tech. Computer Engineering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68818008"/>
                  </a:ext>
                </a:extLst>
              </a:tr>
              <a:tr h="370840">
                <a:tc>
                  <a:txBody>
                    <a:bodyPr/>
                    <a:lstStyle/>
                    <a:p>
                      <a:r>
                        <a:rPr lang="en-US" dirty="0"/>
                        <a:t>Deep Parmar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Computer Vision Specialist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 E. Information Technology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90706444"/>
                  </a:ext>
                </a:extLst>
              </a:tr>
              <a:tr h="370840">
                <a:tc>
                  <a:txBody>
                    <a:bodyPr/>
                    <a:lstStyle/>
                    <a:p>
                      <a:r>
                        <a:rPr lang="en-US" dirty="0"/>
                        <a:t>Hetvi Parmar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Backend &amp; API Developer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 Tech. Computer Engineering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4</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8871293"/>
                  </a:ext>
                </a:extLst>
              </a:tr>
              <a:tr h="370840">
                <a:tc>
                  <a:txBody>
                    <a:bodyPr/>
                    <a:lstStyle/>
                    <a:p>
                      <a:r>
                        <a:rPr lang="en-US" dirty="0"/>
                        <a:t>Hemakshi Rathod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Frontend &amp; UI/UX Developer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MCA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43012033"/>
                  </a:ext>
                </a:extLst>
              </a:tr>
            </a:tbl>
          </a:graphicData>
        </a:graphic>
      </p:graphicFrame>
    </p:spTree>
    <p:extLst>
      <p:ext uri="{BB962C8B-B14F-4D97-AF65-F5344CB8AC3E}">
        <p14:creationId xmlns:p14="http://schemas.microsoft.com/office/powerpoint/2010/main" val="23702183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1161</TotalTime>
  <Words>1309</Words>
  <Application>Microsoft Office PowerPoint</Application>
  <PresentationFormat>Widescreen</PresentationFormat>
  <Paragraphs>103</Paragraphs>
  <Slides>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Aptos</vt:lpstr>
      <vt:lpstr>Aptos Display</vt:lpstr>
      <vt:lpstr>Arial</vt:lpstr>
      <vt:lpstr>Satoshi</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Harshil Khamar (Cloud &amp; Platform Engineering)</dc:creator>
  <cp:lastModifiedBy>Nishant Makwana</cp:lastModifiedBy>
  <cp:revision>6</cp:revision>
  <dcterms:created xsi:type="dcterms:W3CDTF">2025-12-03T17:50:31Z</dcterms:created>
  <dcterms:modified xsi:type="dcterms:W3CDTF">2025-12-24T12:34:59Z</dcterms:modified>
</cp:coreProperties>
</file>